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Tomorrow" panose="020B0604020202020204" charset="0"/>
      <p:regular r:id="rId29"/>
      <p:bold r:id="rId30"/>
      <p:italic r:id="rId31"/>
      <p:boldItalic r:id="rId32"/>
    </p:embeddedFont>
    <p:embeddedFont>
      <p:font typeface="Tomorrow SemiBold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73a0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73a0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73a04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73a04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50c10690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50c10690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50c10690a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50c10690a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73a04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73a04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50c10690a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50c10690a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50c10690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50c10690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50c10690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50c10690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50c10690a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50c10690a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50c10690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50c10690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50c10690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50c10690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50c10690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50c10690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50c10690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450c10690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50c10690a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50c10690a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50c10690a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50c10690a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c6f73a04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c6f73a04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50c10690a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50c10690a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50c10690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50c10690a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50c10690a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50c10690a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c6f73a04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c6f73a04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c6f73a04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c6f73a04f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 p14:dur="11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jeandedieunyandwi/lending-club-dataset" TargetMode="External"/><Relationship Id="rId3" Type="http://schemas.openxmlformats.org/officeDocument/2006/relationships/image" Target="../media/image3.png"/><Relationship Id="rId7" Type="http://schemas.openxmlformats.org/officeDocument/2006/relationships/hyperlink" Target="outpu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hyperlink" Target="dataset%20view.pdf" TargetMode="External"/><Relationship Id="rId5" Type="http://schemas.openxmlformats.org/officeDocument/2006/relationships/hyperlink" Target="DataDictionary.pdf" TargetMode="External"/><Relationship Id="rId4" Type="http://schemas.openxmlformats.org/officeDocument/2006/relationships/image" Target="../media/image4.sv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Python_Visualization.ipynb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anjum.sultana/viz/project_story_17543723496020/Story1?publish=ye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hyperlink" Target="UPDATED%20TABLEAU%20FILE.pdf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Decoding_Default_Python_Notebook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AUCROC_SVM.pdf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hyperlink" Target="AUCROC_RF.pdf" TargetMode="External"/><Relationship Id="rId5" Type="http://schemas.openxmlformats.org/officeDocument/2006/relationships/hyperlink" Target="AUCROC_LR.pdf" TargetMode="External"/><Relationship Id="rId4" Type="http://schemas.openxmlformats.org/officeDocument/2006/relationships/hyperlink" Target="AUCROC_GBM.pdf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oan-default-prediction-rnlg.onrender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jpg"/><Relationship Id="rId5" Type="http://schemas.openxmlformats.org/officeDocument/2006/relationships/hyperlink" Target="https://loan-default-dashboard.streamlit.app/" TargetMode="External"/><Relationship Id="rId4" Type="http://schemas.openxmlformats.org/officeDocument/2006/relationships/hyperlink" Target="http://localhost:8501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176EE"/>
            </a:gs>
            <a:gs pos="100000">
              <a:srgbClr val="113D8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25275" y="209500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Decoding Default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1369550" y="1034750"/>
            <a:ext cx="66582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Tomorrow"/>
                <a:ea typeface="Tomorrow"/>
                <a:cs typeface="Tomorrow"/>
                <a:sym typeface="Tomorrow"/>
              </a:rPr>
              <a:t>Machine Learning based Loan Risk Classifier</a:t>
            </a:r>
          </a:p>
          <a:p>
            <a:pPr marL="0" indent="0" algn="ctr"/>
            <a:r>
              <a:rPr lang="en-IN" sz="1600" dirty="0">
                <a:latin typeface="Tomorrow"/>
                <a:ea typeface="Tomorrow"/>
                <a:cs typeface="Tomorrow"/>
                <a:sym typeface="Tomorrow"/>
              </a:rPr>
              <a:t>CDAC DBDA - Feb 2025 – Group 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4710350" y="3255438"/>
            <a:ext cx="42006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" sz="1600" u="sng" dirty="0">
                <a:latin typeface="Tomorrow"/>
                <a:ea typeface="Tomorrow"/>
                <a:cs typeface="Tomorrow"/>
                <a:sym typeface="Tomorrow"/>
              </a:rPr>
              <a:t>Guided by</a:t>
            </a:r>
            <a:endParaRPr sz="1600" dirty="0"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 flipH="1">
            <a:off x="-172150" y="3110845"/>
            <a:ext cx="50532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 dirty="0">
                <a:latin typeface="Tomorrow"/>
                <a:ea typeface="Tomorrow"/>
                <a:cs typeface="Tomorrow"/>
                <a:sym typeface="Tomorrow"/>
              </a:rPr>
              <a:t>Group 6 Members</a:t>
            </a:r>
            <a:endParaRPr sz="1600" u="sng" dirty="0"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omorrow"/>
                <a:ea typeface="Tomorrow"/>
                <a:cs typeface="Tomorrow"/>
                <a:sym typeface="Tomorrow"/>
              </a:rPr>
              <a:t>Anjum Sultana - 250250125011</a:t>
            </a:r>
            <a:endParaRPr sz="1600" dirty="0"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omorrow"/>
                <a:ea typeface="Tomorrow"/>
                <a:cs typeface="Tomorrow"/>
                <a:sym typeface="Tomorrow"/>
              </a:rPr>
              <a:t>Joseph George - 250250125026</a:t>
            </a:r>
            <a:endParaRPr sz="1600" dirty="0"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omorrow"/>
                <a:ea typeface="Tomorrow"/>
                <a:cs typeface="Tomorrow"/>
                <a:sym typeface="Tomorrow"/>
              </a:rPr>
              <a:t>Palakkal Aiswarya Karunan - 250250125039</a:t>
            </a:r>
            <a:endParaRPr sz="1600" dirty="0"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omorrow"/>
                <a:ea typeface="Tomorrow"/>
                <a:cs typeface="Tomorrow"/>
                <a:sym typeface="Tomorrow"/>
              </a:rPr>
              <a:t>Ritul Gaikwad - 250250125048</a:t>
            </a:r>
            <a:endParaRPr sz="1600" dirty="0"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omorrow"/>
                <a:ea typeface="Tomorrow"/>
                <a:cs typeface="Tomorrow"/>
                <a:sym typeface="Tomorrow"/>
              </a:rPr>
              <a:t>Swami Veena Ravi - 250250125065</a:t>
            </a:r>
            <a:endParaRPr sz="1600" dirty="0"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"/>
          </p:nvPr>
        </p:nvSpPr>
        <p:spPr>
          <a:xfrm>
            <a:off x="4788066" y="3538938"/>
            <a:ext cx="42006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omorrow"/>
                <a:ea typeface="Tomorrow"/>
                <a:cs typeface="Tomorrow"/>
                <a:sym typeface="Tomorrow"/>
              </a:rPr>
              <a:t>Mr.Sujit Pulujkar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omorrow"/>
                <a:ea typeface="Tomorrow"/>
                <a:cs typeface="Tomorrow"/>
                <a:sym typeface="Tomorrow"/>
              </a:rPr>
              <a:t>Project Engineer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omorrow"/>
                <a:ea typeface="Tomorrow"/>
                <a:cs typeface="Tomorrow"/>
                <a:sym typeface="Tomorrow"/>
              </a:rPr>
              <a:t>CDAC Bangalore</a:t>
            </a:r>
            <a:endParaRPr sz="1600" dirty="0"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id="72" name="Google Shape;72;p13" title="CDAC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996" y="1872695"/>
            <a:ext cx="1478008" cy="137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Tomorrow"/>
                <a:ea typeface="Tomorrow"/>
                <a:cs typeface="Tomorrow"/>
                <a:sym typeface="Tomorrow"/>
              </a:rPr>
              <a:t>Introduction</a:t>
            </a:r>
            <a:endParaRPr>
              <a:solidFill>
                <a:srgbClr val="1155CC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Loan Default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Tomorrow"/>
                <a:ea typeface="Tomorrow"/>
                <a:cs typeface="Tomorrow"/>
                <a:sym typeface="Tomorrow"/>
              </a:rPr>
              <a:t>Loan default occurs when a borrower fails to repay their loan according to the agreed terms, leading to financial consequences for both the borrower and lender.</a:t>
            </a:r>
            <a:endParaRPr sz="1700">
              <a:solidFill>
                <a:schemeClr val="dk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omorrow"/>
              <a:buChar char="●"/>
            </a:pPr>
            <a:r>
              <a:rPr lang="en" sz="1700" i="1">
                <a:solidFill>
                  <a:schemeClr val="dk2"/>
                </a:solidFill>
                <a:latin typeface="Tomorrow"/>
                <a:ea typeface="Tomorrow"/>
                <a:cs typeface="Tomorrow"/>
                <a:sym typeface="Tomorrow"/>
              </a:rPr>
              <a:t>Rising non-performing assets (NPAs) affect financial institutions.</a:t>
            </a:r>
            <a:endParaRPr sz="1700" i="1">
              <a:solidFill>
                <a:schemeClr val="dk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omorrow"/>
              <a:buChar char="●"/>
            </a:pPr>
            <a:r>
              <a:rPr lang="en" sz="1700" i="1">
                <a:solidFill>
                  <a:schemeClr val="dk2"/>
                </a:solidFill>
                <a:latin typeface="Tomorrow"/>
                <a:ea typeface="Tomorrow"/>
                <a:cs typeface="Tomorrow"/>
                <a:sym typeface="Tomorrow"/>
              </a:rPr>
              <a:t>Predicting loan default is critical for risk management.</a:t>
            </a:r>
            <a:endParaRPr sz="1700" i="1">
              <a:solidFill>
                <a:schemeClr val="dk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Tomorrow"/>
              <a:buChar char="●"/>
            </a:pPr>
            <a:r>
              <a:rPr lang="en" sz="1700" i="1">
                <a:solidFill>
                  <a:schemeClr val="dk2"/>
                </a:solidFill>
                <a:latin typeface="Tomorrow"/>
                <a:ea typeface="Tomorrow"/>
                <a:cs typeface="Tomorrow"/>
                <a:sym typeface="Tomorrow"/>
              </a:rPr>
              <a:t>ML enables data-driven credit scoring.</a:t>
            </a:r>
            <a:endParaRPr sz="1700" i="1">
              <a:solidFill>
                <a:schemeClr val="dk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>
              <a:solidFill>
                <a:srgbClr val="1B202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1500">
              <a:solidFill>
                <a:srgbClr val="1B202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Project Objectives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Goals of the Loan Default Prediction System</a:t>
            </a:r>
            <a:endParaRPr sz="160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omorrow"/>
              <a:buChar char="●"/>
            </a:pPr>
            <a:r>
              <a:rPr lang="en" sz="16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Predict likelihood of loan default.</a:t>
            </a:r>
            <a:endParaRPr sz="160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omorrow"/>
              <a:buChar char="●"/>
            </a:pPr>
            <a:r>
              <a:rPr lang="en" sz="16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Important features contributing to loan defaulting.</a:t>
            </a:r>
            <a:endParaRPr sz="160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omorrow"/>
              <a:buChar char="●"/>
            </a:pPr>
            <a:r>
              <a:rPr lang="en" sz="16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Build a user-friendly interface using Streamlit.</a:t>
            </a:r>
            <a:endParaRPr sz="160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omorrow"/>
              <a:buChar char="●"/>
            </a:pPr>
            <a:r>
              <a:rPr lang="en" sz="16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Provide actionable insights to lenders.</a:t>
            </a:r>
            <a:endParaRPr sz="160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600"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226075" y="357800"/>
            <a:ext cx="2845200" cy="27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CRISP DM 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FRAMEWORK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id="95" name="Google Shape;95;p17" title="CRISP-DM-Methodology-Chapman-et-al-2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600" y="0"/>
            <a:ext cx="5880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Dataset Overview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654450" y="1758000"/>
            <a:ext cx="7977900" cy="32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lvl="0" indent="-342900">
              <a:lnSpc>
                <a:spcPct val="150000"/>
              </a:lnSpc>
              <a:buClr>
                <a:schemeClr val="dk2"/>
              </a:buClr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IN" sz="1800" dirty="0">
                <a:solidFill>
                  <a:schemeClr val="dk2"/>
                </a:solidFill>
                <a:latin typeface="Tomorrow"/>
                <a:ea typeface="Tomorrow"/>
                <a:cs typeface="Tomorrow"/>
                <a:sym typeface="Tomorrow"/>
              </a:rPr>
              <a:t>Source: </a:t>
            </a:r>
          </a:p>
          <a:p>
            <a:pPr lvl="0" indent="-342900">
              <a:lnSpc>
                <a:spcPct val="150000"/>
              </a:lnSpc>
              <a:buClr>
                <a:schemeClr val="dk2"/>
              </a:buClr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" sz="1800" u="sng" dirty="0">
                <a:solidFill>
                  <a:schemeClr val="bg2"/>
                </a:solidFill>
                <a:uFill>
                  <a:solidFill>
                    <a:schemeClr val="bg1"/>
                  </a:solidFill>
                </a:uFill>
                <a:latin typeface="Tomorrow"/>
                <a:sym typeface="Tomorrow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 : Lending Club Dataset</a:t>
            </a:r>
            <a:endParaRPr lang="en" sz="1800" u="sng" dirty="0">
              <a:solidFill>
                <a:schemeClr val="bg2"/>
              </a:solidFill>
              <a:uFill>
                <a:solidFill>
                  <a:schemeClr val="bg1"/>
                </a:solidFill>
              </a:uFill>
              <a:latin typeface="Tomorrow"/>
              <a:sym typeface="Tomorrow"/>
            </a:endParaRPr>
          </a:p>
          <a:p>
            <a:pPr indent="-342900">
              <a:lnSpc>
                <a:spcPct val="150000"/>
              </a:lnSpc>
              <a:buClr>
                <a:schemeClr val="dk2"/>
              </a:buClr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" sz="1800" u="sng" dirty="0">
                <a:solidFill>
                  <a:schemeClr val="bg2"/>
                </a:solidFill>
                <a:uFill>
                  <a:solidFill>
                    <a:schemeClr val="bg1"/>
                  </a:solidFill>
                </a:uFill>
                <a:latin typeface="Tomorrow"/>
                <a:sym typeface="Tomorrow"/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Size: 3,96,030 records, 27 features</a:t>
            </a:r>
            <a:endParaRPr lang="en" sz="1800" u="sng" dirty="0">
              <a:solidFill>
                <a:schemeClr val="bg2"/>
              </a:solidFill>
              <a:uFill>
                <a:solidFill>
                  <a:schemeClr val="bg1"/>
                </a:solidFill>
              </a:uFill>
              <a:latin typeface="Tomorrow"/>
              <a:sym typeface="Tomorro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" sz="1800" u="sng" dirty="0">
                <a:solidFill>
                  <a:schemeClr val="bg2"/>
                </a:solidFill>
                <a:uFill>
                  <a:solidFill>
                    <a:schemeClr val="bg1"/>
                  </a:solidFill>
                </a:uFill>
                <a:latin typeface="Tomorrow"/>
                <a:ea typeface="Tomorrow"/>
                <a:cs typeface="Tomorrow"/>
                <a:sym typeface="Tomorrow"/>
                <a:hlinkClick r:id="rId7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profiling report explains the dataset statistics</a:t>
            </a:r>
            <a:endParaRPr sz="1800" u="sng" dirty="0">
              <a:solidFill>
                <a:schemeClr val="bg2"/>
              </a:solidFill>
              <a:uFill>
                <a:solidFill>
                  <a:schemeClr val="bg1"/>
                </a:solidFill>
              </a:u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800" dirty="0"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id="102" name="Google Shape;102;p18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00465" y="2302748"/>
            <a:ext cx="1415966" cy="4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Data Preprocessing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826275" y="2108100"/>
            <a:ext cx="5683200" cy="30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022"/>
              </a:buClr>
              <a:buSzPts val="1600"/>
              <a:buFont typeface="Tomorrow"/>
              <a:buChar char="●"/>
            </a:pPr>
            <a:r>
              <a:rPr lang="en" sz="1600" dirty="0">
                <a:solidFill>
                  <a:srgbClr val="1B2022"/>
                </a:solidFill>
                <a:latin typeface="Tomorrow"/>
                <a:ea typeface="Tomorrow"/>
                <a:cs typeface="Tomorrow"/>
                <a:sym typeface="Tomorrow"/>
              </a:rPr>
              <a:t>Handling missing values</a:t>
            </a:r>
            <a:endParaRPr sz="1600" dirty="0">
              <a:solidFill>
                <a:srgbClr val="1B202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022"/>
              </a:buClr>
              <a:buSzPts val="1600"/>
              <a:buFont typeface="Tomorrow"/>
              <a:buChar char="●"/>
            </a:pPr>
            <a:r>
              <a:rPr lang="en" sz="1600" dirty="0">
                <a:solidFill>
                  <a:srgbClr val="1B2022"/>
                </a:solidFill>
                <a:latin typeface="Tomorrow"/>
                <a:ea typeface="Tomorrow"/>
                <a:cs typeface="Tomorrow"/>
                <a:sym typeface="Tomorrow"/>
              </a:rPr>
              <a:t>Replace Zero / None / Other Values</a:t>
            </a:r>
            <a:endParaRPr sz="1600" dirty="0">
              <a:solidFill>
                <a:srgbClr val="1B202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022"/>
              </a:buClr>
              <a:buSzPts val="1600"/>
              <a:buFont typeface="Tomorrow"/>
              <a:buChar char="●"/>
            </a:pPr>
            <a:r>
              <a:rPr lang="en" sz="1600" dirty="0">
                <a:solidFill>
                  <a:srgbClr val="1B2022"/>
                </a:solidFill>
                <a:latin typeface="Tomorrow"/>
                <a:ea typeface="Tomorrow"/>
                <a:cs typeface="Tomorrow"/>
                <a:sym typeface="Tomorrow"/>
              </a:rPr>
              <a:t>Outlier detection and removal</a:t>
            </a:r>
            <a:endParaRPr sz="1600" dirty="0">
              <a:solidFill>
                <a:srgbClr val="1B202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022"/>
              </a:buClr>
              <a:buSzPts val="1600"/>
              <a:buFont typeface="Tomorrow"/>
              <a:buChar char="●"/>
            </a:pPr>
            <a:r>
              <a:rPr lang="en" sz="1600" dirty="0">
                <a:solidFill>
                  <a:srgbClr val="1B2022"/>
                </a:solidFill>
                <a:latin typeface="Tomorrow"/>
                <a:ea typeface="Tomorrow"/>
                <a:cs typeface="Tomorrow"/>
                <a:sym typeface="Tomorrow"/>
              </a:rPr>
              <a:t>Encoding categorical variables</a:t>
            </a:r>
            <a:endParaRPr sz="1600" dirty="0">
              <a:solidFill>
                <a:srgbClr val="1B202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022"/>
              </a:buClr>
              <a:buSzPts val="1600"/>
              <a:buFont typeface="Tomorrow"/>
              <a:buChar char="●"/>
            </a:pPr>
            <a:r>
              <a:rPr lang="en" sz="1600" dirty="0">
                <a:solidFill>
                  <a:srgbClr val="1B2022"/>
                </a:solidFill>
                <a:latin typeface="Tomorrow"/>
                <a:ea typeface="Tomorrow"/>
                <a:cs typeface="Tomorrow"/>
                <a:sym typeface="Tomorrow"/>
              </a:rPr>
              <a:t>Scaling numerical features</a:t>
            </a:r>
            <a:endParaRPr sz="1600" dirty="0">
              <a:solidFill>
                <a:srgbClr val="1B202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omorrow"/>
              <a:buChar char="●"/>
            </a:pPr>
            <a:r>
              <a:rPr lang="en" sz="1600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Random Undersampler used for class balancing</a:t>
            </a:r>
            <a:endParaRPr sz="1600" dirty="0">
              <a:solidFill>
                <a:srgbClr val="1B2022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rgbClr val="1B2022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solidFill>
                <a:srgbClr val="1B202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Feature Engineering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00"/>
              <a:buFont typeface="Tomorrow"/>
              <a:buChar char="●"/>
            </a:pPr>
            <a:r>
              <a:rPr lang="en" sz="17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Zip Code Extraction</a:t>
            </a:r>
            <a:endParaRPr sz="1700">
              <a:solidFill>
                <a:srgbClr val="61615C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Extracted zip codes from address column.</a:t>
            </a:r>
            <a:endParaRPr sz="13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61615C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3655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00"/>
              <a:buFont typeface="Tomorrow"/>
              <a:buChar char="●"/>
            </a:pPr>
            <a:r>
              <a:rPr lang="en" sz="17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Day-Month-Year Extraction from earliest_cr_line and issue_d columns</a:t>
            </a:r>
            <a:endParaRPr sz="1700">
              <a:solidFill>
                <a:srgbClr val="61615C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00"/>
              <a:buFont typeface="Tomorrow"/>
              <a:buNone/>
            </a:pPr>
            <a:endParaRPr sz="1700">
              <a:solidFill>
                <a:srgbClr val="61615C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15" name="Google Shape;115;p20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00"/>
              <a:buFont typeface="Tomorrow"/>
              <a:buChar char="●"/>
            </a:pPr>
            <a:r>
              <a:rPr lang="en" sz="170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Column Dropping</a:t>
            </a:r>
            <a:endParaRPr sz="1700">
              <a:solidFill>
                <a:srgbClr val="61615C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Removed highly correlated or irrelevant columns.</a:t>
            </a:r>
            <a:endParaRPr sz="1350">
              <a:solidFill>
                <a:srgbClr val="61615C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61615C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50"/>
              <a:buFont typeface="Tomorrow"/>
              <a:buNone/>
            </a:pPr>
            <a:endParaRPr sz="1350">
              <a:solidFill>
                <a:srgbClr val="61615C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00"/>
              <a:buFont typeface="Tomorrow"/>
              <a:buNone/>
            </a:pPr>
            <a:endParaRPr sz="1700">
              <a:solidFill>
                <a:srgbClr val="61615C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26078" y="17967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Exploratory Data Analysis (EDA)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id="121" name="Google Shape;121;p21" title="download.png">
            <a:hlinkClick r:id="rId3" action="ppaction://hlinkfil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7975" y="0"/>
            <a:ext cx="5856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290503" y="1796675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  <a:latin typeface="Tomorrow"/>
                <a:ea typeface="Tomorrow"/>
                <a:cs typeface="Tomorrow"/>
                <a:sym typeface="Tomorrow"/>
                <a:hlinkClick r:id="rId3"/>
              </a:rPr>
              <a:t>BI Visualization</a:t>
            </a:r>
            <a:endParaRPr dirty="0">
              <a:solidFill>
                <a:schemeClr val="bg1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pic>
        <p:nvPicPr>
          <p:cNvPr id="127" name="Google Shape;127;p22">
            <a:hlinkClick r:id="rId4" action="ppaction://hlinkfile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5175" y="0"/>
            <a:ext cx="65122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ML Modelling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7721400" cy="3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Choosing the Right Algorithm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Logistic Regression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Random Forest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GBM 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SVM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ANN(Deep Learning)</a:t>
            </a:r>
            <a:b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</a:br>
            <a:b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Model Evaluation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131500" cy="16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Performance Metrics and Results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Accuracy, Precision, Recall, F1-Score, Confusion matrix, ROC-AUC curve</a:t>
            </a:r>
            <a:b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Best performing model GBM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5723075" y="3616175"/>
            <a:ext cx="1551600" cy="92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SVM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Accuracy=0.70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4095250" y="3616175"/>
            <a:ext cx="1551600" cy="92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GBM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Accuracy=0.80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152400" y="3646325"/>
            <a:ext cx="1908300" cy="89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Logistic Regression 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Accuracy=0.66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2198075" y="3616175"/>
            <a:ext cx="1762800" cy="92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Random Forest 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Accuracy=0.79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7447350" y="3616175"/>
            <a:ext cx="1551600" cy="92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ANN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Accuracy=0.80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  <a:latin typeface="Tomorrow"/>
                <a:ea typeface="Tomorrow"/>
                <a:cs typeface="Tomorrow"/>
                <a:sym typeface="Tomorrow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 Performance Improvement</a:t>
            </a:r>
            <a:endParaRPr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150" name="Google Shape;150;p25"/>
          <p:cNvSpPr txBox="1">
            <a:spLocks noGrp="1"/>
          </p:cNvSpPr>
          <p:nvPr>
            <p:ph type="body" idx="1"/>
          </p:nvPr>
        </p:nvSpPr>
        <p:spPr>
          <a:xfrm>
            <a:off x="90900" y="2147675"/>
            <a:ext cx="2967000" cy="7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Hyperparameter Tuning </a:t>
            </a:r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90900" y="2985875"/>
            <a:ext cx="2890800" cy="7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Cross-validation </a:t>
            </a:r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14700" y="3976475"/>
            <a:ext cx="3043200" cy="103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Feature Importance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3253575" y="1961625"/>
            <a:ext cx="5524200" cy="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latin typeface="Tomorrow"/>
                <a:ea typeface="Tomorrow"/>
                <a:cs typeface="Tomorrow"/>
                <a:sym typeface="Tomorrow"/>
              </a:rPr>
              <a:t>Finding the best combination of model settings (like learning rate, tree depth, number of neighbors, etc.) that minimizes error or maximizes accuracy leading to better results.</a:t>
            </a:r>
            <a:endParaRPr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3275300" y="3038250"/>
            <a:ext cx="55026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omorrow"/>
                <a:ea typeface="Tomorrow"/>
                <a:cs typeface="Tomorrow"/>
                <a:sym typeface="Tomorrow"/>
              </a:rPr>
              <a:t>Cross-validation is a technique, splitting the data into multiple parts, training the model on some parts and validating it on the remaining, to ensure it generalizes well to unseen data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3253575" y="4099175"/>
            <a:ext cx="5404500" cy="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omorrow"/>
                <a:ea typeface="Tomorrow"/>
                <a:cs typeface="Tomorrow"/>
                <a:sym typeface="Tomorrow"/>
              </a:rPr>
              <a:t>Selecting important features removing irrelevant or redundant data  reduces noise, lowers overfitting risk, speeds up training, and enhances the model’s accuracy and interpretability.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Best  Improved Model 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61" name="Google Shape;161;p26"/>
          <p:cNvSpPr txBox="1">
            <a:spLocks noGrp="1"/>
          </p:cNvSpPr>
          <p:nvPr>
            <p:ph type="body" idx="1"/>
          </p:nvPr>
        </p:nvSpPr>
        <p:spPr>
          <a:xfrm>
            <a:off x="323250" y="3001803"/>
            <a:ext cx="3999900" cy="19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GBM selected based on Metric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GBM with F1-score = 0.88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Accuracy=0.891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Recall = 0.89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Precision =0.90</a:t>
            </a:r>
            <a:endParaRPr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62" name="Google Shape;162;p26">
            <a:hlinkClick r:id="rId3" action="ppaction://hlinkfile"/>
          </p:cNvPr>
          <p:cNvSpPr txBox="1"/>
          <p:nvPr/>
        </p:nvSpPr>
        <p:spPr>
          <a:xfrm>
            <a:off x="5723075" y="1939775"/>
            <a:ext cx="1551600" cy="92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SVM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Accuracy=0.83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6">
            <a:hlinkClick r:id="rId4" action="ppaction://hlinkfile"/>
          </p:cNvPr>
          <p:cNvSpPr txBox="1"/>
          <p:nvPr/>
        </p:nvSpPr>
        <p:spPr>
          <a:xfrm>
            <a:off x="4095250" y="1939775"/>
            <a:ext cx="1551600" cy="92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GBM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Accuracy=0.89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6">
            <a:hlinkClick r:id="rId5" action="ppaction://hlinkfile"/>
          </p:cNvPr>
          <p:cNvSpPr txBox="1"/>
          <p:nvPr/>
        </p:nvSpPr>
        <p:spPr>
          <a:xfrm>
            <a:off x="152400" y="1969925"/>
            <a:ext cx="1908300" cy="89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Logistic Regression 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Accuracy=0.83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6">
            <a:hlinkClick r:id="rId6" action="ppaction://hlinkfile"/>
          </p:cNvPr>
          <p:cNvSpPr txBox="1"/>
          <p:nvPr/>
        </p:nvSpPr>
        <p:spPr>
          <a:xfrm>
            <a:off x="2198075" y="1939775"/>
            <a:ext cx="1762800" cy="92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Random Forest 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Accuracy=0.88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7447350" y="1939775"/>
            <a:ext cx="1551600" cy="92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ANN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Accuracy=0.80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 descr="A graph with a line&#10;&#10;AI-generated content may be incorrect.">
            <a:extLst>
              <a:ext uri="{FF2B5EF4-FFF2-40B4-BE49-F238E27FC236}">
                <a16:creationId xmlns:a16="http://schemas.microsoft.com/office/drawing/2014/main" id="{0882416C-970C-578A-68D2-CD57D1D54E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1125" y="3031105"/>
            <a:ext cx="2319453" cy="2033849"/>
          </a:xfrm>
          <a:prstGeom prst="rect">
            <a:avLst/>
          </a:prstGeom>
        </p:spPr>
      </p:pic>
      <p:pic>
        <p:nvPicPr>
          <p:cNvPr id="5" name="Picture 4" descr="A diagram of a confused matrix&#10;&#10;AI-generated content may be incorrect.">
            <a:extLst>
              <a:ext uri="{FF2B5EF4-FFF2-40B4-BE49-F238E27FC236}">
                <a16:creationId xmlns:a16="http://schemas.microsoft.com/office/drawing/2014/main" id="{1F2DE07E-0E75-6C84-EC59-FB8A7E1640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483" y="3031104"/>
            <a:ext cx="2342280" cy="2033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>
            <a:spLocks noGrp="1"/>
          </p:cNvSpPr>
          <p:nvPr>
            <p:ph type="title"/>
          </p:nvPr>
        </p:nvSpPr>
        <p:spPr>
          <a:xfrm>
            <a:off x="460950" y="82575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Streamlit Web App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72" name="Google Shape;172;p2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0340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Saved the best model as pickle file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Created an application python file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Input features selected based on feature importance (top features) for better prediction.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Dynamic charts  and insights for exploring loan data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Web app assists lending club or financial bodies to assess risk of defaulting before granting loan to customers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Overview of Application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78" name="Google Shape;178;p28"/>
          <p:cNvSpPr txBox="1">
            <a:spLocks noGrp="1"/>
          </p:cNvSpPr>
          <p:nvPr>
            <p:ph type="body" idx="1"/>
          </p:nvPr>
        </p:nvSpPr>
        <p:spPr>
          <a:xfrm>
            <a:off x="113700" y="1821225"/>
            <a:ext cx="8916600" cy="3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 b="1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Input fields</a:t>
            </a: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: Loan Amount, Annual Income,No of mortgage accounts, Issue month, Issue year, loan term in months, loan grade, Zip code, revolving utilization in percentage, interest rate in percentage.</a:t>
            </a:r>
            <a:endParaRPr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 b="1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Output</a:t>
            </a: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: Default probability</a:t>
            </a:r>
            <a:endParaRPr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Graphical Visualisation of loan data analytics</a:t>
            </a:r>
            <a:endParaRPr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Interactive tableau dashboard </a:t>
            </a:r>
            <a:endParaRPr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Accessible via desktop and mobile devices</a:t>
            </a:r>
          </a:p>
          <a:p>
            <a:pPr lvl="0">
              <a:lnSpc>
                <a:spcPct val="150000"/>
              </a:lnSpc>
              <a:buClr>
                <a:srgbClr val="000000"/>
              </a:buClr>
              <a:buFont typeface="Tomorrow"/>
              <a:buChar char="●"/>
            </a:pPr>
            <a:r>
              <a:rPr lang="en" b="1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Platforms used: </a:t>
            </a:r>
            <a: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GitHub, Amazon S3 Bucket, Streamlit / Render</a:t>
            </a:r>
            <a:br>
              <a:rPr lang="en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109100" y="1964800"/>
            <a:ext cx="4598100" cy="14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dirty="0">
                <a:latin typeface="Tomorrow"/>
                <a:ea typeface="Tomorrow"/>
                <a:cs typeface="Tomorrow"/>
                <a:sym typeface="Tomorrow"/>
              </a:rPr>
              <a:t>Application Demo </a:t>
            </a:r>
            <a:endParaRPr sz="3900" dirty="0"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dirty="0"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84" name="Google Shape;184;p29"/>
          <p:cNvSpPr txBox="1">
            <a:spLocks noGrp="1"/>
          </p:cNvSpPr>
          <p:nvPr>
            <p:ph type="subTitle" idx="1"/>
          </p:nvPr>
        </p:nvSpPr>
        <p:spPr>
          <a:xfrm>
            <a:off x="301550" y="2839350"/>
            <a:ext cx="3999300" cy="966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omorrow"/>
                <a:ea typeface="Tomorrow"/>
                <a:cs typeface="Tomorrow"/>
                <a:sym typeface="Tomorrow"/>
                <a:hlinkClick r:id="rId3"/>
              </a:rPr>
              <a:t>Live Walkthrough of the Streamlit App</a:t>
            </a:r>
            <a:endParaRPr dirty="0">
              <a:latin typeface="Tomorrow"/>
              <a:ea typeface="Tomorrow"/>
              <a:cs typeface="Tomorrow"/>
              <a:sym typeface="Tomorrow"/>
              <a:hlinkClick r:id="rId4"/>
            </a:endParaRPr>
          </a:p>
        </p:txBody>
      </p:sp>
      <p:pic>
        <p:nvPicPr>
          <p:cNvPr id="185" name="Google Shape;185;p29" title="deployment-strategy.jpg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9500" y="1273700"/>
            <a:ext cx="3055176" cy="270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Results &amp; Insights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91" name="Google Shape;191;p30"/>
          <p:cNvSpPr txBox="1">
            <a:spLocks noGrp="1"/>
          </p:cNvSpPr>
          <p:nvPr>
            <p:ph type="body" idx="1"/>
          </p:nvPr>
        </p:nvSpPr>
        <p:spPr>
          <a:xfrm>
            <a:off x="589525" y="1864900"/>
            <a:ext cx="7261500" cy="3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GBM model</a:t>
            </a: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identifies high-risk loan applicants with 89.1% accuracy 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Char char="●"/>
            </a:pPr>
            <a:r>
              <a:rPr lang="en" b="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Features Influencing Loan Default</a:t>
            </a: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 - zip (most contributing factor), grade, term, issue_d_year , int_rate, annual_inc  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Streamlit Dashboard Developed </a:t>
            </a: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- An easy-to-use interface for entering loan details  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Actionable Insights for Lenders</a:t>
            </a: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- Lenders can use instant predictions with visual explanations from web app developed.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600"/>
              </a:spcAft>
              <a:buNone/>
            </a:pP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226075" y="1999650"/>
            <a:ext cx="2808000" cy="114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Future </a:t>
            </a: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Enhancements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4396475" y="744050"/>
            <a:ext cx="37647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omorrow"/>
              <a:buChar char="●"/>
            </a:pPr>
            <a:r>
              <a:rPr lang="en" sz="18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Add explainable AI </a:t>
            </a:r>
            <a:endParaRPr sz="180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omorrow"/>
              <a:buChar char="●"/>
            </a:pPr>
            <a:r>
              <a:rPr lang="en" sz="18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Integrate with real-time loan databases</a:t>
            </a:r>
            <a:endParaRPr sz="180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omorrow"/>
              <a:buChar char="●"/>
            </a:pPr>
            <a:r>
              <a:rPr lang="en" sz="18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Deploy using big data technologies  (Pyspark)</a:t>
            </a:r>
            <a:endParaRPr sz="180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omorrow"/>
              <a:buChar char="●"/>
            </a:pPr>
            <a:r>
              <a:rPr lang="en" sz="18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Use behavioural data to categorise individuals based on their preference</a:t>
            </a:r>
            <a:endParaRPr sz="180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600"/>
              </a:spcAft>
              <a:buNone/>
            </a:pPr>
            <a:endParaRPr sz="1800"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omorrow"/>
                <a:ea typeface="Tomorrow"/>
                <a:cs typeface="Tomorrow"/>
                <a:sym typeface="Tomorrow"/>
              </a:rPr>
              <a:t>Conclusion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203" name="Google Shape;203;p3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1492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Machine Learning enhances the accuracy and efficiency of loan default prediction, enabling smarter credit decisions.</a:t>
            </a:r>
            <a:b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Streamlit provides an intuitive, user-friendly interface, making advanced ML models accessible to non-technical users.</a:t>
            </a:r>
            <a:b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</a:b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This project demonstrates the complete data science pipeline — from data preprocessing to model deployment — in a real-world use case.</a:t>
            </a: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title" idx="4294967295"/>
          </p:nvPr>
        </p:nvSpPr>
        <p:spPr>
          <a:xfrm>
            <a:off x="773700" y="1663450"/>
            <a:ext cx="75966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“Behind every default is a data pattern waiting to be decoded.”</a:t>
            </a:r>
            <a:endParaRPr>
              <a:solidFill>
                <a:schemeClr val="lt2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cxnSp>
        <p:nvCxnSpPr>
          <p:cNvPr id="209" name="Google Shape;209;p33"/>
          <p:cNvCxnSpPr/>
          <p:nvPr/>
        </p:nvCxnSpPr>
        <p:spPr>
          <a:xfrm>
            <a:off x="4295550" y="2693400"/>
            <a:ext cx="552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33"/>
          <p:cNvSpPr txBox="1">
            <a:spLocks noGrp="1"/>
          </p:cNvSpPr>
          <p:nvPr>
            <p:ph type="body" idx="4294967295"/>
          </p:nvPr>
        </p:nvSpPr>
        <p:spPr>
          <a:xfrm>
            <a:off x="773700" y="2961650"/>
            <a:ext cx="7596600" cy="5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>
                <a:latin typeface="Tomorrow"/>
                <a:ea typeface="Tomorrow"/>
                <a:cs typeface="Tomorrow"/>
                <a:sym typeface="Tomorrow"/>
              </a:rPr>
              <a:t>ML Enthusiast</a:t>
            </a:r>
            <a:endParaRPr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258153" y="17907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omorrow SemiBold"/>
                <a:ea typeface="Tomorrow SemiBold"/>
                <a:cs typeface="Tomorrow SemiBold"/>
                <a:sym typeface="Tomorrow SemiBold"/>
              </a:rPr>
              <a:t>Thanks!</a:t>
            </a:r>
            <a:endParaRPr sz="3000" dirty="0"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216" name="Google Shape;216;p34" title="dolla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4300" y="0"/>
            <a:ext cx="58697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</p:bldLst>
  </p:timing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763</Words>
  <Application>Microsoft Office PowerPoint</Application>
  <PresentationFormat>On-screen Show (16:9)</PresentationFormat>
  <Paragraphs>131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Tomorrow</vt:lpstr>
      <vt:lpstr>Tomorrow SemiBold</vt:lpstr>
      <vt:lpstr>Arial</vt:lpstr>
      <vt:lpstr>Roboto</vt:lpstr>
      <vt:lpstr>Material</vt:lpstr>
      <vt:lpstr>Decoding Default</vt:lpstr>
      <vt:lpstr>Introduction</vt:lpstr>
      <vt:lpstr>Loan Default</vt:lpstr>
      <vt:lpstr>Project Objectives</vt:lpstr>
      <vt:lpstr>CRISP DM  FRAMEWORK</vt:lpstr>
      <vt:lpstr>Dataset Overview</vt:lpstr>
      <vt:lpstr>Data Preprocessing</vt:lpstr>
      <vt:lpstr>Feature Engineering</vt:lpstr>
      <vt:lpstr>Exploratory Data Analysis (EDA)</vt:lpstr>
      <vt:lpstr>BI Visualization</vt:lpstr>
      <vt:lpstr>ML Modelling</vt:lpstr>
      <vt:lpstr>Model Evaluation</vt:lpstr>
      <vt:lpstr>Model Performance Improvement</vt:lpstr>
      <vt:lpstr>Best  Improved Model </vt:lpstr>
      <vt:lpstr>Streamlit Web App</vt:lpstr>
      <vt:lpstr>Overview of Application</vt:lpstr>
      <vt:lpstr>Application Demo  </vt:lpstr>
      <vt:lpstr>Results &amp; Insights</vt:lpstr>
      <vt:lpstr>Future   Enhancements</vt:lpstr>
      <vt:lpstr>Conclusion</vt:lpstr>
      <vt:lpstr>“Behind every default is a data pattern waiting to be decoded.”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 G</cp:lastModifiedBy>
  <cp:revision>8</cp:revision>
  <dcterms:modified xsi:type="dcterms:W3CDTF">2025-08-05T07:24:39Z</dcterms:modified>
</cp:coreProperties>
</file>